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0"/>
  </p:notesMasterIdLst>
  <p:sldIdLst>
    <p:sldId id="483" r:id="rId2"/>
    <p:sldId id="484" r:id="rId3"/>
    <p:sldId id="488" r:id="rId4"/>
    <p:sldId id="478" r:id="rId5"/>
    <p:sldId id="486" r:id="rId6"/>
    <p:sldId id="489" r:id="rId7"/>
    <p:sldId id="487" r:id="rId8"/>
    <p:sldId id="468" r:id="rId9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7" autoAdjust="0"/>
    <p:restoredTop sz="94434" autoAdjust="0"/>
  </p:normalViewPr>
  <p:slideViewPr>
    <p:cSldViewPr snapToGrid="0">
      <p:cViewPr>
        <p:scale>
          <a:sx n="45" d="100"/>
          <a:sy n="45" d="100"/>
        </p:scale>
        <p:origin x="82" y="73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3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+mn-lt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GB" sz="2000" b="1" i="0" u="none" strike="noStrike" cap="none" dirty="0">
                <a:solidFill>
                  <a:schemeClr val="accent2"/>
                </a:solidFill>
                <a:latin typeface="+mn-lt"/>
                <a:ea typeface="Cambria" panose="02040503050406030204" pitchFamily="18" charset="0"/>
                <a:cs typeface="Verdana"/>
                <a:sym typeface="Verdana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+mn-lt"/>
                <a:ea typeface="Cambria" panose="02040503050406030204" pitchFamily="18" charset="0"/>
                <a:cs typeface="Verdana"/>
                <a:sym typeface="Verdana"/>
              </a:rPr>
              <a:t> of,</a:t>
            </a:r>
            <a:endParaRPr sz="2000" dirty="0">
              <a:latin typeface="+mn-lt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+mn-lt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2000" b="1" dirty="0">
                <a:solidFill>
                  <a:srgbClr val="17365D"/>
                </a:solidFill>
                <a:latin typeface="+mn-lt"/>
                <a:ea typeface="Cambria" panose="02040503050406030204" pitchFamily="18" charset="0"/>
                <a:cs typeface="Verdana"/>
                <a:sym typeface="Verdana"/>
              </a:rPr>
              <a:t>Mr.  Afroz Pasha </a:t>
            </a:r>
            <a:endParaRPr sz="2000" dirty="0">
              <a:latin typeface="+mn-lt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+mn-lt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sz="2000" dirty="0">
              <a:latin typeface="+mn-lt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+mn-lt"/>
                <a:ea typeface="Cambria" panose="02040503050406030204" pitchFamily="18" charset="0"/>
                <a:cs typeface="Verdana"/>
                <a:sym typeface="Verdana"/>
              </a:rPr>
              <a:t>Presidency School of Computer Science and Engineering</a:t>
            </a:r>
            <a:endParaRPr sz="2000" dirty="0">
              <a:latin typeface="+mn-lt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+mn-lt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sz="2000" dirty="0">
              <a:latin typeface="+mn-lt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+mn-lt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-210246" y="8034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ts val="7200"/>
              </a:lnSpc>
            </a:pPr>
            <a:r>
              <a:rPr lang="en-US" sz="2000" dirty="0">
                <a:latin typeface="+mn-lt"/>
                <a:ea typeface="Arial" pitchFamily="34" charset="-122"/>
                <a:cs typeface="Times New Roman" panose="02020603050405020304" pitchFamily="18" charset="0"/>
              </a:rPr>
              <a:t>Real-Time Vital Signs Monitoring Using Blynk and ESP8266</a:t>
            </a:r>
            <a:endParaRPr lang="en-US" sz="2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549658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ts val="7200"/>
              </a:lnSpc>
            </a:pPr>
            <a:r>
              <a:rPr lang="en-US" sz="4800" dirty="0">
                <a:solidFill>
                  <a:schemeClr val="tx1"/>
                </a:solidFill>
                <a:latin typeface="+mn-lt"/>
                <a:ea typeface="Arial" pitchFamily="34" charset="-122"/>
                <a:cs typeface="Times New Roman" panose="02020603050405020304" pitchFamily="18" charset="0"/>
              </a:rPr>
              <a:t>IoT Patient Health Monitor System</a:t>
            </a:r>
          </a:p>
          <a:p>
            <a:pPr algn="ctr">
              <a:lnSpc>
                <a:spcPts val="7200"/>
              </a:lnSpc>
            </a:pPr>
            <a:endParaRPr lang="en-US" sz="48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956080"/>
              </p:ext>
            </p:extLst>
          </p:nvPr>
        </p:nvGraphicFramePr>
        <p:xfrm>
          <a:off x="838200" y="2363460"/>
          <a:ext cx="5257801" cy="1930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1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5739">
                <a:tc>
                  <a:txBody>
                    <a:bodyPr/>
                    <a:lstStyle/>
                    <a:p>
                      <a:r>
                        <a:rPr lang="en-IN" sz="2000" dirty="0"/>
                        <a:t>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ROLL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739">
                <a:tc>
                  <a:txBody>
                    <a:bodyPr/>
                    <a:lstStyle/>
                    <a:p>
                      <a:r>
                        <a:rPr lang="en-US" sz="2000" dirty="0"/>
                        <a:t>SAGAR P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20221COM0119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755">
                <a:tc>
                  <a:txBody>
                    <a:bodyPr/>
                    <a:lstStyle/>
                    <a:p>
                      <a:r>
                        <a:rPr lang="en-IN" sz="2000" dirty="0"/>
                        <a:t>DUDDUKURI SRI ADITYA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20221COM0087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3980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</a:pPr>
            <a:r>
              <a:rPr lang="en-US" sz="4800" b="1" dirty="0">
                <a:latin typeface="+mn-lt"/>
                <a:cs typeface="Times New Roman" panose="02020603050405020304" pitchFamily="18" charset="0"/>
              </a:rPr>
              <a:t>INTRODUCTION</a:t>
            </a:r>
            <a:r>
              <a:rPr lang="en-US" sz="3200" b="1" dirty="0">
                <a:latin typeface="+mn-lt"/>
                <a:cs typeface="Times New Roman" panose="02020603050405020304" pitchFamily="18" charset="0"/>
              </a:rPr>
              <a:t> </a:t>
            </a:r>
            <a:endParaRPr sz="3200"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05139" y="1155677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3200" dirty="0"/>
              <a:t>IoT-based healthcare systems enable continuous monitoring of patient vitals</a:t>
            </a:r>
          </a:p>
          <a:p>
            <a:r>
              <a:rPr lang="en-IN" sz="3200" dirty="0"/>
              <a:t>Real-time data collection reduces response time in critical situations</a:t>
            </a:r>
          </a:p>
          <a:p>
            <a:r>
              <a:rPr lang="en-IN" sz="3200" dirty="0"/>
              <a:t>Remote monitoring improves patient outcomes and reduces hospital visits</a:t>
            </a:r>
          </a:p>
          <a:p>
            <a:r>
              <a:rPr lang="en-IN" sz="3200" dirty="0"/>
              <a:t>Affordable and portable solution using embedded microcontrollers</a:t>
            </a:r>
          </a:p>
        </p:txBody>
      </p:sp>
    </p:spTree>
    <p:extLst>
      <p:ext uri="{BB962C8B-B14F-4D97-AF65-F5344CB8AC3E}">
        <p14:creationId xmlns:p14="http://schemas.microsoft.com/office/powerpoint/2010/main" val="173464857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09600" y="339492"/>
            <a:ext cx="10972800" cy="51850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OBJECTIVE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kumimoji="0" 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M</a:t>
            </a:r>
            <a:r>
              <a:rPr lang="en-US" sz="3200" dirty="0"/>
              <a:t>onitor vital signs: Temperature, Heart Rate, and SpO₂ in real-time</a:t>
            </a:r>
          </a:p>
          <a:p>
            <a:r>
              <a:rPr lang="en-US" sz="3200" dirty="0"/>
              <a:t>Display readings on local LCD and cloud-based Blynk dashboard</a:t>
            </a:r>
          </a:p>
          <a:p>
            <a:r>
              <a:rPr lang="en-US" sz="3200" dirty="0"/>
              <a:t>Enable physicians to access patient data remotely via smartphone</a:t>
            </a:r>
          </a:p>
          <a:p>
            <a:r>
              <a:rPr lang="en-US" sz="3200" dirty="0"/>
              <a:t>Generate automated alerts when vital signs exceed safety thresholds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253545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837" y="223520"/>
            <a:ext cx="8001000" cy="447039"/>
          </a:xfrm>
        </p:spPr>
        <p:txBody>
          <a:bodyPr/>
          <a:lstStyle/>
          <a:p>
            <a:r>
              <a:rPr lang="en-IN" sz="3600" b="1" dirty="0">
                <a:latin typeface="+mn-lt"/>
                <a:cs typeface="Times New Roman" panose="02020603050405020304" pitchFamily="18" charset="0"/>
              </a:rPr>
              <a:t>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" y="884161"/>
            <a:ext cx="10815320" cy="4691641"/>
          </a:xfrm>
        </p:spPr>
        <p:txBody>
          <a:bodyPr/>
          <a:lstStyle/>
          <a:p>
            <a:r>
              <a:rPr lang="en-IN" b="1" dirty="0"/>
              <a:t>Microcontroller:</a:t>
            </a:r>
            <a:r>
              <a:rPr lang="en-IN" dirty="0"/>
              <a:t> ESP32 or ESP8266 (Wi-Fi connectivity)</a:t>
            </a:r>
          </a:p>
          <a:p>
            <a:r>
              <a:rPr lang="en-IN" b="1" dirty="0"/>
              <a:t>Temperature Sensor:</a:t>
            </a:r>
            <a:r>
              <a:rPr lang="en-IN" dirty="0"/>
              <a:t> DHT11 or DHT22</a:t>
            </a:r>
          </a:p>
          <a:p>
            <a:r>
              <a:rPr lang="en-IN" b="1" dirty="0"/>
              <a:t>Heart Rate &amp; SpO₂:</a:t>
            </a:r>
            <a:r>
              <a:rPr lang="en-IN" dirty="0"/>
              <a:t> MAX30x Pulse Oximeter Module</a:t>
            </a:r>
          </a:p>
          <a:p>
            <a:r>
              <a:rPr lang="en-IN" b="1" dirty="0"/>
              <a:t>Display:</a:t>
            </a:r>
            <a:r>
              <a:rPr lang="en-IN" dirty="0"/>
              <a:t> 16×2 LCD with I2C module</a:t>
            </a:r>
            <a:endParaRPr lang="en-IN" b="1" dirty="0"/>
          </a:p>
          <a:p>
            <a:r>
              <a:rPr lang="en-IN" b="1" dirty="0"/>
              <a:t>Power Supply:</a:t>
            </a:r>
            <a:r>
              <a:rPr lang="en-IN" dirty="0"/>
              <a:t> 5V USB power bank or adapter</a:t>
            </a:r>
          </a:p>
          <a:p>
            <a:r>
              <a:rPr lang="en-IN" b="1" dirty="0"/>
              <a:t>Jumper Wires:</a:t>
            </a:r>
            <a:r>
              <a:rPr lang="en-IN" dirty="0"/>
              <a:t> Male-to-male and male-to-female connectors</a:t>
            </a:r>
          </a:p>
          <a:p>
            <a:r>
              <a:rPr lang="en-IN" b="1" dirty="0"/>
              <a:t>Breadboard:</a:t>
            </a:r>
            <a:r>
              <a:rPr lang="en-IN" dirty="0"/>
              <a:t> For circuit prototyping</a:t>
            </a:r>
          </a:p>
          <a:p>
            <a:r>
              <a:rPr lang="en-IN" b="1" dirty="0"/>
              <a:t>Additional:</a:t>
            </a:r>
            <a:r>
              <a:rPr lang="en-IN" dirty="0"/>
              <a:t> Pull-up resistors, capacitors for sensor stability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088"/>
            <a:ext cx="10515600" cy="1056639"/>
          </a:xfrm>
        </p:spPr>
        <p:txBody>
          <a:bodyPr/>
          <a:lstStyle/>
          <a:p>
            <a:r>
              <a:rPr lang="en-IN" sz="3600" b="1" dirty="0">
                <a:latin typeface="+mn-lt"/>
                <a:cs typeface="Times New Roman" panose="02020603050405020304" pitchFamily="18" charset="0"/>
              </a:rPr>
              <a:t>CIRCUIT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6640"/>
            <a:ext cx="10515600" cy="3596640"/>
          </a:xfrm>
        </p:spPr>
        <p:txBody>
          <a:bodyPr/>
          <a:lstStyle/>
          <a:p>
            <a:pPr marL="0" indent="0">
              <a:buNone/>
            </a:pPr>
            <a:br>
              <a:rPr lang="en-IN" dirty="0"/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3B9752-C4E5-7362-4886-FC5F13364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115" y="1194727"/>
            <a:ext cx="7121769" cy="400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70916"/>
            <a:ext cx="10515600" cy="1227556"/>
          </a:xfrm>
        </p:spPr>
        <p:txBody>
          <a:bodyPr/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+mn-lt"/>
                <a:cs typeface="Times New Roman" panose="02020603050405020304" pitchFamily="18" charset="0"/>
              </a:rPr>
              <a:t>OUTPUT FEATURES</a:t>
            </a:r>
            <a:endParaRPr lang="en-IN" sz="3600" b="1" dirty="0">
              <a:solidFill>
                <a:schemeClr val="accent1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1280"/>
            <a:ext cx="10515600" cy="4155440"/>
          </a:xfrm>
        </p:spPr>
        <p:txBody>
          <a:bodyPr/>
          <a:lstStyle/>
          <a:p>
            <a:r>
              <a:rPr lang="en-US" sz="3200" dirty="0"/>
              <a:t>Real-time vital signs displayed on 16×2 LCD</a:t>
            </a:r>
          </a:p>
          <a:p>
            <a:r>
              <a:rPr lang="en-US" sz="3200" dirty="0"/>
              <a:t>Cloud-based Blynk dashboard with live data visualization</a:t>
            </a:r>
          </a:p>
          <a:p>
            <a:r>
              <a:rPr lang="en-US" sz="3200" dirty="0"/>
              <a:t>Automated alert notifications when thresholds exceeded</a:t>
            </a:r>
          </a:p>
          <a:p>
            <a:r>
              <a:rPr lang="en-US" sz="3200" dirty="0"/>
              <a:t>Historical data logging for trend analysis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3823630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4000" b="1" dirty="0">
                <a:latin typeface="+mn-lt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sz="3200" dirty="0"/>
              <a:t>IoT Patient Health Monitor System provides a scalable, affordable solution for remote healthcare monitoring. With real-time data transmission, cloud storage, and physician alerts, it revolutionizes patient care delivery.</a:t>
            </a:r>
          </a:p>
          <a:p>
            <a:r>
              <a:rPr lang="en-US" sz="3200" dirty="0"/>
              <a:t>This technology bridges the gap between patients and healthcare providers, enabling proactive interventions and improved health outcomes.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392139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cs typeface="Times New Roman" panose="02020603050405020304" pitchFamily="18" charset="0"/>
              </a:rPr>
              <a:t>Thank you 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9262</TotalTime>
  <Words>279</Words>
  <Application>Microsoft Office PowerPoint</Application>
  <PresentationFormat>Widescreen</PresentationFormat>
  <Paragraphs>51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INTRODUCTION </vt:lpstr>
      <vt:lpstr>PowerPoint Presentation</vt:lpstr>
      <vt:lpstr>HARDWARE REQUIREMENTS</vt:lpstr>
      <vt:lpstr>CIRCUIT DESIGN</vt:lpstr>
      <vt:lpstr> OUTPUT FEATURES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Sagar P</cp:lastModifiedBy>
  <cp:revision>960</cp:revision>
  <cp:lastPrinted>2018-07-24T06:37:20Z</cp:lastPrinted>
  <dcterms:created xsi:type="dcterms:W3CDTF">2018-06-07T04:06:17Z</dcterms:created>
  <dcterms:modified xsi:type="dcterms:W3CDTF">2025-11-21T16:04:51Z</dcterms:modified>
</cp:coreProperties>
</file>